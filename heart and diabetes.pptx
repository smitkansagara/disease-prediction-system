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Source Sans 3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910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8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-3-6.svg"/><Relationship Id="rId5" Type="http://schemas.openxmlformats.org/officeDocument/2006/relationships/image" Target="../media/image-3-4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-5-4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8" Type="http://schemas.openxmlformats.org/officeDocument/2006/relationships/image" Target="../media/image-7-18.svg"/><Relationship Id="rId3" Type="http://schemas.openxmlformats.org/officeDocument/2006/relationships/image" Target="../media/image5.png"/><Relationship Id="rId7" Type="http://schemas.openxmlformats.org/officeDocument/2006/relationships/image" Target="../media/image-7-7.sv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-7-16.svg"/><Relationship Id="rId20" Type="http://schemas.openxmlformats.org/officeDocument/2006/relationships/image" Target="../media/image-7-20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-7-5.svg"/><Relationship Id="rId11" Type="http://schemas.openxmlformats.org/officeDocument/2006/relationships/image" Target="../media/image-7-11.svg"/><Relationship Id="rId5" Type="http://schemas.openxmlformats.org/officeDocument/2006/relationships/image" Target="../media/image-7-3.svg"/><Relationship Id="rId4" Type="http://schemas.openxmlformats.org/officeDocument/2006/relationships/image" Target="../media/image3.png"/><Relationship Id="rId9" Type="http://schemas.openxmlformats.org/officeDocument/2006/relationships/image" Target="../media/image-7-9.svg"/><Relationship Id="rId14" Type="http://schemas.openxmlformats.org/officeDocument/2006/relationships/image" Target="../media/image-7-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-9-7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-9-5.svg"/><Relationship Id="rId11" Type="http://schemas.openxmlformats.org/officeDocument/2006/relationships/image" Target="../media/image10.png"/><Relationship Id="rId5" Type="http://schemas.openxmlformats.org/officeDocument/2006/relationships/image" Target="../media/image-9-3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-9-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018109"/>
            <a:ext cx="7416403" cy="28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Predictive Disease Diagnosis System for Heart Disease and Diabetes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63798" y="5193387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 Guided Project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584120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Application in Healthcare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42693"/>
            <a:ext cx="1019115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Introduction 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860953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Challenge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3528417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Heart disease and diabetes are among the leading causes of mortality worldwide. Early detection remains challenging due to: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860965"/>
            <a:ext cx="6150293" cy="148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Subtle early symptoms that often go unnoticed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Delayed diagnosis leading to complications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Limited accessibility to specialized healthcare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Need for rapid, accurate screening tools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860953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ML Matters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623929" y="3528417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Machine learning enables automated analysis of patient data, identifying complex patterns that may escape human observation. This system aims to: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23929" y="4860965"/>
            <a:ext cx="6150293" cy="148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 multiple health indicators simultaneously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 immediate risk assessment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Assist healthcare professionals with data-driven insights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patient outcomes through early intervention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084" y="678418"/>
            <a:ext cx="5604510" cy="70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3084" y="1871543"/>
            <a:ext cx="6328886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4" name="Shape 2"/>
          <p:cNvSpPr/>
          <p:nvPr/>
        </p:nvSpPr>
        <p:spPr>
          <a:xfrm>
            <a:off x="1109663" y="2118122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313021" y="2321481"/>
            <a:ext cx="332899" cy="3328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663" y="3104198"/>
            <a:ext cx="2917269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Accurate Prediction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09663" y="3602236"/>
            <a:ext cx="5835729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ML models to predict heart disease and diabetes with high accuracy using clinical patient data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38311" y="1871543"/>
            <a:ext cx="6329005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9" name="Shape 6"/>
          <p:cNvSpPr/>
          <p:nvPr/>
        </p:nvSpPr>
        <p:spPr>
          <a:xfrm>
            <a:off x="7684889" y="2118122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88248" y="2321481"/>
            <a:ext cx="332899" cy="3328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4889" y="3104198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Early Diagnosis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84889" y="3602236"/>
            <a:ext cx="5835848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early detection rates by identifying at-risk patients before symptoms become severe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863084" y="4834533"/>
            <a:ext cx="6328886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14" name="Shape 10"/>
          <p:cNvSpPr/>
          <p:nvPr/>
        </p:nvSpPr>
        <p:spPr>
          <a:xfrm>
            <a:off x="1109663" y="5081111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313021" y="5284470"/>
            <a:ext cx="332899" cy="3328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09663" y="6067187"/>
            <a:ext cx="3538418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Implementation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109663" y="6565225"/>
            <a:ext cx="5835729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user-friendly, automated prediction system accessible to healthcare providers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7438311" y="4834533"/>
            <a:ext cx="6329005" cy="2716649"/>
          </a:xfrm>
          <a:prstGeom prst="roundRect">
            <a:avLst>
              <a:gd name="adj" fmla="val 1362"/>
            </a:avLst>
          </a:prstGeom>
          <a:solidFill>
            <a:srgbClr val="30313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84889" y="5081111"/>
            <a:ext cx="739735" cy="739735"/>
          </a:xfrm>
          <a:prstGeom prst="roundRect">
            <a:avLst>
              <a:gd name="adj" fmla="val 12359947"/>
            </a:avLst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88248" y="5284470"/>
            <a:ext cx="332899" cy="3328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4889" y="6067187"/>
            <a:ext cx="2802255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Validation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84889" y="6565225"/>
            <a:ext cx="5835848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multiple ML algorithms and validate performance using standard metrics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5999" y="1483757"/>
            <a:ext cx="5775960" cy="486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Preprocessing Pipeline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085999" y="2148721"/>
            <a:ext cx="171212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085999" y="2416850"/>
            <a:ext cx="7944802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085999" y="2548176"/>
            <a:ext cx="2531745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Missing Value Treatment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85999" y="2862739"/>
            <a:ext cx="794480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and handled missing data points using statistical imputation methods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5999" y="3327678"/>
            <a:ext cx="171212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85999" y="3595807"/>
            <a:ext cx="7944802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085999" y="3727133"/>
            <a:ext cx="194679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85999" y="4041696"/>
            <a:ext cx="794480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Removed or corrected anomalous values that could skew model predictions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85999" y="4506635"/>
            <a:ext cx="171212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85999" y="4774763"/>
            <a:ext cx="7944802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085999" y="4906089"/>
            <a:ext cx="1946791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85999" y="5220653"/>
            <a:ext cx="794480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Standardized numerical features to ensure equal weight in model training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5999" y="5685592"/>
            <a:ext cx="171212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5999" y="5953720"/>
            <a:ext cx="7944802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085999" y="6085046"/>
            <a:ext cx="3179564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Encoding Categorical Variables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085999" y="6399609"/>
            <a:ext cx="7944802" cy="217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Converted categorical data into numerical format for ML algorithm compatibility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450" y="1024414"/>
            <a:ext cx="6470809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Models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40450" y="1988106"/>
            <a:ext cx="13149501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 supervised learning algorithms were implemented and evaluated for disease prediction: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0450" y="2486739"/>
            <a:ext cx="13149501" cy="2651879"/>
          </a:xfrm>
          <a:prstGeom prst="roundRect">
            <a:avLst>
              <a:gd name="adj" fmla="val 119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8070" y="2494359"/>
            <a:ext cx="13132832" cy="5273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1073" y="2610683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Aspect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41977" y="2610683"/>
            <a:ext cx="3946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Logistic Regression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719072" y="2610683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8070" y="3021687"/>
            <a:ext cx="13132832" cy="5273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1073" y="3138011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Interpretability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41977" y="3138011"/>
            <a:ext cx="3946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719072" y="3138011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8070" y="3549015"/>
            <a:ext cx="13132832" cy="5273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1073" y="3665339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Handles non-linearity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41977" y="3665339"/>
            <a:ext cx="3946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719072" y="3665339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8070" y="4076343"/>
            <a:ext cx="13132832" cy="52732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1073" y="4192667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341977" y="4192667"/>
            <a:ext cx="3946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Moderate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719072" y="4192667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8070" y="4603671"/>
            <a:ext cx="13132832" cy="52732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1073" y="4719995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Medical trust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341977" y="4719995"/>
            <a:ext cx="394656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719072" y="4719995"/>
            <a:ext cx="39503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Medium</a:t>
            </a:r>
            <a:endParaRPr lang="en-US" sz="16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40450" y="5342573"/>
            <a:ext cx="528876" cy="5288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40450" y="6098024"/>
            <a:ext cx="245804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27" name="Text 24"/>
          <p:cNvSpPr/>
          <p:nvPr/>
        </p:nvSpPr>
        <p:spPr>
          <a:xfrm>
            <a:off x="740450" y="6507123"/>
            <a:ext cx="6461403" cy="589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 method for binary classification, interpretable coefficients for feature importance</a:t>
            </a:r>
            <a:endParaRPr lang="en-US" sz="16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428428" y="5342573"/>
            <a:ext cx="528876" cy="52887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28428" y="6098024"/>
            <a:ext cx="2404110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Random Forest</a:t>
            </a:r>
            <a:endParaRPr lang="en-US" sz="1850" dirty="0"/>
          </a:p>
        </p:txBody>
      </p:sp>
      <p:sp>
        <p:nvSpPr>
          <p:cNvPr id="30" name="Text 26"/>
          <p:cNvSpPr/>
          <p:nvPr/>
        </p:nvSpPr>
        <p:spPr>
          <a:xfrm>
            <a:off x="7428428" y="6507123"/>
            <a:ext cx="646152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Ensemble of decision trees, reduces overfitting while improving accuracy</a:t>
            </a:r>
            <a:endParaRPr lang="en-US" sz="1650" dirty="0"/>
          </a:p>
        </p:txBody>
      </p:sp>
      <p:sp>
        <p:nvSpPr>
          <p:cNvPr id="31" name="Text 27"/>
          <p:cNvSpPr/>
          <p:nvPr/>
        </p:nvSpPr>
        <p:spPr>
          <a:xfrm>
            <a:off x="7428428" y="6910507"/>
            <a:ext cx="646152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6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04248"/>
            <a:ext cx="1229225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Training &amp; Evaluation Methodology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92250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Training Process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3589973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 was split into training (80%) and testing (20%) sets. Models were trained using k-fold cross-validation to ensure robust performance assessment across different data subsets.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120376"/>
            <a:ext cx="615029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Hyperparameter tuning was performed using grid search to optimize each algorithm's parameters for maximum predictive power.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623929" y="2922508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Evaluation Metrics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623929" y="3589973"/>
            <a:ext cx="6150293" cy="148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Overall correctness of predictions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Recall: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Ability to identify actual disease cases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Confusion Matrix: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Detailed breakdown of true/false positives and negatives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02669" y="859512"/>
            <a:ext cx="5864781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Prediction Thresholds in Detail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2302669" y="1520428"/>
            <a:ext cx="10024943" cy="394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prediction thresholds is critical for clinical decision-making, as they directly impact the balance between identifying true disease cases and avoiding false alarms. The optimal threshold can vary significantly based on the specific disease and the consequences of misclassification.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302669" y="2135029"/>
            <a:ext cx="5130641" cy="27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Heart Disease: Logistic Regression Threshold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69" y="2523649"/>
            <a:ext cx="6379726" cy="38396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78732" y="5494810"/>
            <a:ext cx="1052201" cy="17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0.0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833022" y="4350063"/>
            <a:ext cx="348411" cy="3484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19183" y="5067789"/>
            <a:ext cx="1052200" cy="35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Heart Disease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073364" y="4022557"/>
            <a:ext cx="348410" cy="3484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6493" y="4829346"/>
            <a:ext cx="1052201" cy="17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0.5 Cutoff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313706" y="3695051"/>
            <a:ext cx="348411" cy="3484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99758" y="4412777"/>
            <a:ext cx="1052200" cy="35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Heart Disease Present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54048" y="3367545"/>
            <a:ext cx="348411" cy="34841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40101" y="4174334"/>
            <a:ext cx="1052200" cy="17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1.0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801359" y="3019134"/>
            <a:ext cx="348410" cy="34841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302669" y="6479619"/>
            <a:ext cx="6379726" cy="797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 heart disease prediction, Logistic Regression provides a probability score between 0 and 1. An initial threshold of </a:t>
            </a: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was set, meaning any patient with a predicted probability of 50% or higher is flagged as having heart disease. This threshold can be adjusted based on the desired sensitivity and specificity for early detection.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9079825" y="2317790"/>
            <a:ext cx="3255288" cy="54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Diabetes: Random Forest Threshold</a:t>
            </a:r>
            <a:endParaRPr lang="en-US" sz="17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9825" y="2978706"/>
            <a:ext cx="3255288" cy="221468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76575" y="4646702"/>
            <a:ext cx="672848" cy="113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Risk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403132" y="3921356"/>
            <a:ext cx="222798" cy="22279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974260" y="4437272"/>
            <a:ext cx="672848" cy="113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Low Risk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0196291" y="3711927"/>
            <a:ext cx="222798" cy="22279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767419" y="4227842"/>
            <a:ext cx="672848" cy="113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Threshold</a:t>
            </a:r>
            <a:endParaRPr lang="en-US" sz="12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10989451" y="3502497"/>
            <a:ext cx="222798" cy="22279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1556053" y="4018413"/>
            <a:ext cx="672849" cy="113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 Risk</a:t>
            </a:r>
            <a:endParaRPr lang="en-US" sz="12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11782610" y="3293067"/>
            <a:ext cx="222798" cy="22279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9079825" y="5309711"/>
            <a:ext cx="3255288" cy="178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Random Forest, while highly accurate, aggregates predictions from many decision trees. The final threshold for diabetes risk is not a fixed </a:t>
            </a:r>
            <a:r>
              <a:rPr lang="en-US" sz="12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2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but is calibrated based on cross-validation results to optimize performance metrics, especially recall, to minimize missed diagnoses. This adaptive threshold helps in robust identification of diabetes cases across varied patient profiles.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1558" y="495419"/>
            <a:ext cx="5173861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Performance Comparison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58" y="1210985"/>
            <a:ext cx="10647283" cy="54531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98275" y="6664166"/>
            <a:ext cx="169664" cy="169664"/>
          </a:xfrm>
          <a:prstGeom prst="roundRect">
            <a:avLst>
              <a:gd name="adj" fmla="val 10779"/>
            </a:avLst>
          </a:prstGeom>
          <a:solidFill>
            <a:srgbClr val="636363"/>
          </a:solidFill>
          <a:ln/>
        </p:spPr>
      </p:sp>
      <p:sp>
        <p:nvSpPr>
          <p:cNvPr id="5" name="Text 2"/>
          <p:cNvSpPr/>
          <p:nvPr/>
        </p:nvSpPr>
        <p:spPr>
          <a:xfrm>
            <a:off x="4528899" y="6664166"/>
            <a:ext cx="910114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Accuracy (%)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734413" y="6664166"/>
            <a:ext cx="169664" cy="169664"/>
          </a:xfrm>
          <a:prstGeom prst="roundRect">
            <a:avLst>
              <a:gd name="adj" fmla="val 10779"/>
            </a:avLst>
          </a:prstGeom>
          <a:solidFill>
            <a:srgbClr val="939393"/>
          </a:solidFill>
          <a:ln/>
        </p:spPr>
      </p:sp>
      <p:sp>
        <p:nvSpPr>
          <p:cNvPr id="7" name="Text 4"/>
          <p:cNvSpPr/>
          <p:nvPr/>
        </p:nvSpPr>
        <p:spPr>
          <a:xfrm>
            <a:off x="6965037" y="6664166"/>
            <a:ext cx="930712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 (%)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91268" y="6664166"/>
            <a:ext cx="169664" cy="169664"/>
          </a:xfrm>
          <a:prstGeom prst="roundRect">
            <a:avLst>
              <a:gd name="adj" fmla="val 10779"/>
            </a:avLst>
          </a:prstGeom>
          <a:solidFill>
            <a:srgbClr val="C3C3C3"/>
          </a:solidFill>
          <a:ln/>
        </p:spPr>
      </p:sp>
      <p:sp>
        <p:nvSpPr>
          <p:cNvPr id="9" name="Text 6"/>
          <p:cNvSpPr/>
          <p:nvPr/>
        </p:nvSpPr>
        <p:spPr>
          <a:xfrm>
            <a:off x="9421892" y="6664166"/>
            <a:ext cx="703302" cy="169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Recall (%)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991558" y="7304603"/>
            <a:ext cx="10647283" cy="429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Finding:</a:t>
            </a:r>
            <a:r>
              <a:rPr lang="en-US" sz="13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Random Forest achieved the highest accuracy (87%) with balanced precision and recall, demonstrating robust generalization to unseen patient data.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7147" y="399574"/>
            <a:ext cx="3441740" cy="401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626" y="962025"/>
            <a:ext cx="8804910" cy="43737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09453" y="2206359"/>
            <a:ext cx="1811289" cy="226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Prediction Output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775557" y="2084869"/>
            <a:ext cx="442789" cy="4427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09453" y="3853677"/>
            <a:ext cx="1811289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Model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775557" y="3732186"/>
            <a:ext cx="442789" cy="4427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09370" y="3853677"/>
            <a:ext cx="1811288" cy="226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Preprocessing</a:t>
            </a:r>
            <a:endParaRPr lang="en-US" sz="12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110667" y="3838456"/>
            <a:ext cx="442790" cy="44279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111497" y="2191277"/>
            <a:ext cx="442790" cy="44279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410201" y="2202070"/>
            <a:ext cx="1811288" cy="226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Input</a:t>
            </a:r>
            <a:endParaRPr lang="en-US" sz="12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7147" y="5426631"/>
            <a:ext cx="4427934" cy="56471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028236" y="6072068"/>
            <a:ext cx="160424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 Input</a:t>
            </a:r>
            <a:endParaRPr lang="en-US" sz="1250" dirty="0"/>
          </a:p>
        </p:txBody>
      </p:sp>
      <p:sp>
        <p:nvSpPr>
          <p:cNvPr id="14" name="Text 6"/>
          <p:cNvSpPr/>
          <p:nvPr/>
        </p:nvSpPr>
        <p:spPr>
          <a:xfrm>
            <a:off x="3028236" y="6320790"/>
            <a:ext cx="4145756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Patient health parameters entered via interface</a:t>
            </a:r>
            <a:endParaRPr lang="en-US" sz="11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081" y="5426631"/>
            <a:ext cx="4428053" cy="564713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7456170" y="6072068"/>
            <a:ext cx="160424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17" name="Text 8"/>
          <p:cNvSpPr/>
          <p:nvPr/>
        </p:nvSpPr>
        <p:spPr>
          <a:xfrm>
            <a:off x="7456170" y="6320790"/>
            <a:ext cx="4145875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cleaning, scaling, and validation</a:t>
            </a:r>
            <a:endParaRPr lang="en-US" sz="11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87147" y="6628328"/>
            <a:ext cx="4427934" cy="5647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028236" y="7273766"/>
            <a:ext cx="160424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Model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3028236" y="7522488"/>
            <a:ext cx="4145756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Trained algorithm processes features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081" y="6628328"/>
            <a:ext cx="4428053" cy="564713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456170" y="7273766"/>
            <a:ext cx="1604248" cy="20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Prediction Output</a:t>
            </a:r>
            <a:endParaRPr lang="en-US" sz="1250" dirty="0"/>
          </a:p>
        </p:txBody>
      </p:sp>
      <p:sp>
        <p:nvSpPr>
          <p:cNvPr id="23" name="Text 12"/>
          <p:cNvSpPr/>
          <p:nvPr/>
        </p:nvSpPr>
        <p:spPr>
          <a:xfrm>
            <a:off x="7456170" y="7522488"/>
            <a:ext cx="4145875" cy="166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probability and diagnosis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55251"/>
            <a:ext cx="789193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 &amp; 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373511"/>
            <a:ext cx="3365778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Achievements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3040975"/>
            <a:ext cx="615029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successfully demonstrated the feasibility of ML for disease prediction with Random Forest achieving 87% accuracy. The framework provides healthcare professionals with a reliable screening tool for early intervention.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743688"/>
            <a:ext cx="615029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Benefits include: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5335905"/>
            <a:ext cx="6150293" cy="148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Rapid assessment of patient disease risk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Data-driven clinical decision support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diagnostic errors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Scalable solution for population health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2373511"/>
            <a:ext cx="3933706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Future Enhancements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23929" y="3040975"/>
            <a:ext cx="6150293" cy="3702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integration: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Connect with electronic health records for automated data retrieval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 learning: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Implement neural networks for improved pattern recognition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Mobile application: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 patient-facing app for self-assessment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Expanded scope: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Include additional diseases and health conditions</a:t>
            </a:r>
            <a:endParaRPr lang="en-US" sz="1900" dirty="0"/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Clinical validation:</a:t>
            </a: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Partner with hospitals for real-world testing</a:t>
            </a:r>
            <a:endParaRPr lang="en-US" sz="1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751</Words>
  <Application>Microsoft Office PowerPoint</Application>
  <PresentationFormat>Custom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Calibri</vt:lpstr>
      <vt:lpstr>Source Sans 3</vt:lpstr>
      <vt:lpstr>Montserrat Bold</vt:lpstr>
      <vt:lpstr>Montserrat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2</cp:revision>
  <dcterms:created xsi:type="dcterms:W3CDTF">2026-01-31T06:11:36Z</dcterms:created>
  <dcterms:modified xsi:type="dcterms:W3CDTF">2026-01-31T06:37:34Z</dcterms:modified>
</cp:coreProperties>
</file>